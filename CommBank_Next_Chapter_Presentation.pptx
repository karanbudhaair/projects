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7"/>
  </p:notesMasterIdLst>
  <p:sldIdLst>
    <p:sldId id="256" r:id="rId3"/>
    <p:sldId id="272" r:id="rId4"/>
    <p:sldId id="269" r:id="rId5"/>
    <p:sldId id="273" r:id="rId6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224" userDrawn="1">
          <p15:clr>
            <a:srgbClr val="A4A3A4"/>
          </p15:clr>
        </p15:guide>
        <p15:guide id="3" orient="horz" pos="3888" userDrawn="1">
          <p15:clr>
            <a:srgbClr val="A4A3A4"/>
          </p15:clr>
        </p15:guide>
        <p15:guide id="4" pos="41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B43"/>
    <a:srgbClr val="FFCC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1032" y="168"/>
      </p:cViewPr>
      <p:guideLst>
        <p:guide orient="horz" pos="2160"/>
        <p:guide pos="1224"/>
        <p:guide orient="horz" pos="3888"/>
        <p:guide pos="41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88028-6F18-41FA-81C3-957061EA3343}" type="datetimeFigureOut">
              <a:rPr lang="en-US" smtClean="0"/>
              <a:t>4/1/22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F6CE4-AE6D-4A0C-974A-D103A3FA8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54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BF6CE4-AE6D-4A0C-974A-D103A3FA87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322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75488" y="895393"/>
            <a:ext cx="8211312" cy="0"/>
          </a:xfrm>
          <a:prstGeom prst="line">
            <a:avLst/>
          </a:prstGeom>
          <a:ln w="57150">
            <a:solidFill>
              <a:srgbClr val="FFDB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571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748" y="535377"/>
            <a:ext cx="8229600" cy="27813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1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4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47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2887CE-7D38-4C92-A138-F57F7BD32960}"/>
              </a:ext>
            </a:extLst>
          </p:cNvPr>
          <p:cNvCxnSpPr/>
          <p:nvPr userDrawn="1"/>
        </p:nvCxnSpPr>
        <p:spPr>
          <a:xfrm>
            <a:off x="475488" y="895393"/>
            <a:ext cx="8211312" cy="0"/>
          </a:xfrm>
          <a:prstGeom prst="line">
            <a:avLst/>
          </a:prstGeom>
          <a:ln w="57150">
            <a:solidFill>
              <a:srgbClr val="FFDB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89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ED3E03B-8B2B-48DF-8712-24FAF02FE624}"/>
              </a:ext>
            </a:extLst>
          </p:cNvPr>
          <p:cNvCxnSpPr/>
          <p:nvPr userDrawn="1"/>
        </p:nvCxnSpPr>
        <p:spPr>
          <a:xfrm>
            <a:off x="475488" y="895393"/>
            <a:ext cx="8211312" cy="0"/>
          </a:xfrm>
          <a:prstGeom prst="line">
            <a:avLst/>
          </a:prstGeom>
          <a:ln w="57150">
            <a:solidFill>
              <a:srgbClr val="FFDB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25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6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44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7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5250DF-1B5F-4AA3-A2B3-8B13CD43DE46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16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432262" y="1855694"/>
            <a:ext cx="8279476" cy="3953435"/>
          </a:xfrm>
          <a:prstGeom prst="rect">
            <a:avLst/>
          </a:prstGeom>
        </p:spPr>
        <p:txBody>
          <a:bodyPr/>
          <a:lstStyle>
            <a:lvl1pPr>
              <a:defRPr sz="1059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defRPr sz="1059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1059" b="0" i="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1059" b="0" i="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1059" b="0" i="0">
                <a:solidFill>
                  <a:schemeClr val="tx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432262" y="1169894"/>
            <a:ext cx="8279476" cy="322729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882"/>
              </a:spcBef>
              <a:buFontTx/>
              <a:buNone/>
              <a:defRPr sz="1324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03433" indent="0" algn="ctr">
              <a:buNone/>
            </a:lvl2pPr>
            <a:lvl3pPr marL="806867" indent="0" algn="ctr">
              <a:buNone/>
            </a:lvl3pPr>
            <a:lvl4pPr marL="1210300" indent="0" algn="ctr">
              <a:buNone/>
            </a:lvl4pPr>
            <a:lvl5pPr marL="1613733" indent="0" algn="ctr">
              <a:buNone/>
            </a:lvl5pPr>
            <a:lvl6pPr marL="2017166" indent="0" algn="ctr">
              <a:buNone/>
            </a:lvl6pPr>
            <a:lvl7pPr marL="2420600" indent="0" algn="ctr">
              <a:buNone/>
            </a:lvl7pPr>
            <a:lvl8pPr marL="2824033" indent="0" algn="ctr">
              <a:buNone/>
            </a:lvl8pPr>
            <a:lvl9pPr marL="3227466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677778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9436"/>
            <a:ext cx="64389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96837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CB2E-3FE0-49B9-8B08-5CAA4428C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959F4-F09A-463A-A657-C8782712B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E2425-4D83-4310-9E38-1820CCF6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15BEC-0BD1-4824-808F-40FCC4FC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7551-6F98-40AF-9EC6-BEC74306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66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EF84-BA56-4F2B-A928-7DA32345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BA215-7D34-4F08-80BF-A1262B2DE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CA60-A3E7-4FFC-BD05-542660F0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95D30-B65D-4791-B6CC-9C03C228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3C722-A3E0-47FE-98A0-D0913C81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3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5A3B-6476-424C-BBED-C6625686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E0838-BDA0-4643-A145-DED99ADF6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02D0D-E449-47A3-B002-9148DFB2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CADA9-9F71-4BD4-912E-2661F7ED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7C696-3421-4FEC-A533-7CAACB0E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00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EAAA-FB1D-4325-A731-3EFCC4A0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D1268-52D3-436C-BB35-94393C342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BDA57-17DA-47C1-9470-3CA0FC8CC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4AF5E-206A-45FB-9DB4-AED13631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42B93-886B-4813-9D2E-8EDF2BEF7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A632A-379A-40D0-B9CF-A41F9D5F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97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0D19C-DB5A-479E-BAD9-1B37154F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CB55C-7EE1-4B5F-A2E3-F3EB34280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D9A8A-9688-4B49-8DA6-F53F3AAE3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F2422C-4674-455C-BD33-16177C15F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F1162-829C-4DEF-93FF-8263D0501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E3B81-40E7-4547-8833-69EE24CA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13DB1-6171-417F-8AA9-E145E70B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58FA22-51AD-4EF5-ABD6-920D555A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90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5066-CF09-49B2-B616-A9D62FAC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C8007-6450-4264-AE28-2B7C99F24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52A3-1460-4D46-A97C-FF7BB7D0B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9AC51-55E2-46D0-BF48-665981D2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09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1338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A90F-457F-4F6A-BA1F-F2E612F5D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9C82F-4B14-4C1F-919D-462BB5BFE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984FD-64CF-4F30-AAF2-94B23E6EA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09176-A316-4B69-95B2-D69FA58B8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AE297-87C9-441C-8AD7-A06F0A2C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20D9F-7C3E-4BBF-A86D-2CCE64BAE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878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70F7A-2AAE-40E0-A3A1-87215046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8D5114-499C-4B57-BD67-5C9D12B3F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A4454-E0EC-4B1E-AB7E-08BB87EBE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64686-38DE-4165-8454-B7315C3D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9B7A3-590A-4C16-A390-03581ED7C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21EBA-22B1-41DA-8CEA-B177D5DC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31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E70AC-8486-46BC-A695-EC51E692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3D147-4E55-467C-8A9D-3D99C4D9E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EB23F-BE10-4239-8AD8-92B4C5AA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7AC63-E9DB-4339-9128-B1E3AF56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C03F1-837B-4D19-B0CB-6AB8A68A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925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EEF62F-754B-4154-86C4-780DF8A5A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571F0-C0CA-4325-80CB-017A03CF6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EED13-573B-471F-AAF8-D4251357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BACB5-40B9-48B1-A864-89B7F9C0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891AA-7652-4FE5-A63C-C7A6C08A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905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5377"/>
            <a:ext cx="8229600" cy="27813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22842-BF45-48B4-9CFF-24916EDCC40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88B5E4-D591-4826-BA20-F0927A8CC6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l="12020" t="31172" r="11390" b="28103"/>
          <a:stretch/>
        </p:blipFill>
        <p:spPr>
          <a:xfrm>
            <a:off x="258792" y="5968432"/>
            <a:ext cx="2363638" cy="77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5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5472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C3438-2774-4C30-B800-F2E8EE17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C58F6-84F6-466D-9FBF-1AA0D9AA0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299B0-640F-4958-8480-995F5EF53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87265-40F1-4E18-8160-6D4B695AB229}" type="datetimeFigureOut">
              <a:rPr lang="en-US" smtClean="0"/>
              <a:t>4/1/22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36BDC-4E08-4178-94D0-2539AE164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A1F5D-57D4-4060-9490-5CE5FB65C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95AC4-A35F-4BC3-8DB1-AEB47E0AF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22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634" y="1014374"/>
            <a:ext cx="8228732" cy="98488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spcBef>
                <a:spcPct val="9500"/>
              </a:spcBef>
              <a:buFontTx/>
              <a:buNone/>
              <a:defRPr sz="2400" b="0" i="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t>Empowering Survivors:</a:t>
            </a:r>
          </a:p>
          <a:p>
            <a:r>
              <a:t>CommBank’s Role in Combating Financial Abuse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B67BF7-09E0-4E6C-912D-F4EC073C8CE3}"/>
              </a:ext>
            </a:extLst>
          </p:cNvPr>
          <p:cNvSpPr txBox="1">
            <a:spLocks/>
          </p:cNvSpPr>
          <p:nvPr/>
        </p:nvSpPr>
        <p:spPr>
          <a:xfrm>
            <a:off x="457634" y="4946612"/>
            <a:ext cx="8228732" cy="36933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spcBef>
                <a:spcPct val="9500"/>
              </a:spcBef>
              <a:buFontTx/>
              <a:buNone/>
              <a:defRPr sz="2400" b="0" i="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t>Target Stakeholder Group: CommBank Employees</a:t>
            </a:r>
          </a:p>
        </p:txBody>
      </p:sp>
    </p:spTree>
    <p:extLst>
      <p:ext uri="{BB962C8B-B14F-4D97-AF65-F5344CB8AC3E}">
        <p14:creationId xmlns:p14="http://schemas.microsoft.com/office/powerpoint/2010/main" val="378411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BA2CB-66D3-4CD2-A310-B1053FD65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B5FA5-7E78-4210-92EB-76EF5C374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your compelling visual and accompanying text/tag line here to convey a key point and grab the reader’s attention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A938F-59DE-45A7-AD2A-AF1316077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675B2B-C78D-4269-8B6F-69E02FFE5BBD}"/>
              </a:ext>
            </a:extLst>
          </p:cNvPr>
          <p:cNvSpPr txBox="1"/>
          <p:nvPr/>
        </p:nvSpPr>
        <p:spPr>
          <a:xfrm>
            <a:off x="383177" y="424496"/>
            <a:ext cx="5660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B43"/>
                </a:solidFill>
                <a:effectLst/>
                <a:uLnTx/>
                <a:uFillTx/>
                <a:latin typeface="Arial" panose="020B0604020202020204" pitchFamily="34" charset="0"/>
                <a:cs typeface="+mj-cs"/>
              </a:rPr>
              <a:t>Financial Abuse</a:t>
            </a:r>
            <a:endParaRPr lang="en-US" sz="2000" b="1" dirty="0">
              <a:solidFill>
                <a:srgbClr val="FFDB4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3C2EF-87EB-4B4C-94F6-F6D3E5AB4978}"/>
              </a:ext>
            </a:extLst>
          </p:cNvPr>
          <p:cNvSpPr txBox="1"/>
          <p:nvPr/>
        </p:nvSpPr>
        <p:spPr>
          <a:xfrm>
            <a:off x="383177" y="986199"/>
            <a:ext cx="2403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What is it?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867661-C30D-4E1B-AE5E-1272F4519012}"/>
              </a:ext>
            </a:extLst>
          </p:cNvPr>
          <p:cNvSpPr/>
          <p:nvPr/>
        </p:nvSpPr>
        <p:spPr>
          <a:xfrm>
            <a:off x="487679" y="1245780"/>
            <a:ext cx="8181704" cy="964874"/>
          </a:xfrm>
          <a:prstGeom prst="rect">
            <a:avLst/>
          </a:prstGeom>
          <a:noFill/>
          <a:ln>
            <a:solidFill>
              <a:srgbClr val="FFDB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8257B9-1ECA-44E4-B6F8-5D2F6F0B472C}"/>
              </a:ext>
            </a:extLst>
          </p:cNvPr>
          <p:cNvSpPr txBox="1"/>
          <p:nvPr/>
        </p:nvSpPr>
        <p:spPr>
          <a:xfrm>
            <a:off x="383177" y="2258665"/>
            <a:ext cx="3735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Size, Extent, Impact of Problem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D97C63-1ED3-450B-8967-36E63EB04C96}"/>
              </a:ext>
            </a:extLst>
          </p:cNvPr>
          <p:cNvSpPr/>
          <p:nvPr/>
        </p:nvSpPr>
        <p:spPr>
          <a:xfrm>
            <a:off x="487678" y="2521113"/>
            <a:ext cx="3875317" cy="2143486"/>
          </a:xfrm>
          <a:prstGeom prst="rect">
            <a:avLst/>
          </a:prstGeom>
          <a:noFill/>
          <a:ln>
            <a:solidFill>
              <a:srgbClr val="FFDB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AFD62F-C899-4103-BACF-30379C773EF1}"/>
              </a:ext>
            </a:extLst>
          </p:cNvPr>
          <p:cNvSpPr txBox="1"/>
          <p:nvPr/>
        </p:nvSpPr>
        <p:spPr>
          <a:xfrm>
            <a:off x="4589418" y="2244114"/>
            <a:ext cx="3735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Challenges and Opportunities to Address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673232-9BE8-44DB-9EA3-E35CD1223736}"/>
              </a:ext>
            </a:extLst>
          </p:cNvPr>
          <p:cNvSpPr/>
          <p:nvPr/>
        </p:nvSpPr>
        <p:spPr>
          <a:xfrm>
            <a:off x="4641669" y="2521113"/>
            <a:ext cx="4014652" cy="2143486"/>
          </a:xfrm>
          <a:prstGeom prst="rect">
            <a:avLst/>
          </a:prstGeom>
          <a:noFill/>
          <a:ln>
            <a:solidFill>
              <a:srgbClr val="FFDB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6478C-1DF5-4875-8948-E7580F638CE4}"/>
              </a:ext>
            </a:extLst>
          </p:cNvPr>
          <p:cNvSpPr txBox="1"/>
          <p:nvPr/>
        </p:nvSpPr>
        <p:spPr>
          <a:xfrm>
            <a:off x="383176" y="4724981"/>
            <a:ext cx="4111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Why should you commit to act on this problem?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500E6F-C2C5-4DBB-AF2C-87938728763A}"/>
              </a:ext>
            </a:extLst>
          </p:cNvPr>
          <p:cNvSpPr/>
          <p:nvPr/>
        </p:nvSpPr>
        <p:spPr>
          <a:xfrm>
            <a:off x="487678" y="4984562"/>
            <a:ext cx="8181704" cy="964874"/>
          </a:xfrm>
          <a:prstGeom prst="rect">
            <a:avLst/>
          </a:prstGeom>
          <a:noFill/>
          <a:ln>
            <a:solidFill>
              <a:srgbClr val="FFDB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13160-BD80-4EBE-B118-BF11DB668187}"/>
              </a:ext>
            </a:extLst>
          </p:cNvPr>
          <p:cNvSpPr txBox="1"/>
          <p:nvPr/>
        </p:nvSpPr>
        <p:spPr>
          <a:xfrm>
            <a:off x="504645" y="1286107"/>
            <a:ext cx="7979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Launched in 2020 to support survivors of financial abuse.</a:t>
            </a:r>
          </a:p>
          <a:p>
            <a:r>
              <a:t>• Financial Independence Hub offers free one-on-one coaching, referrals to services, and access to interest-free loans.</a:t>
            </a:r>
          </a:p>
          <a:p>
            <a:r>
              <a:t>• Developed new banking technologies to detect and prevent financial abuse.</a:t>
            </a:r>
          </a:p>
          <a:p>
            <a:r>
              <a:t>• Partnering with experts to raise awareness across communities and industries.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4E4B4-41F5-4395-8556-0D02C7942EEE}"/>
              </a:ext>
            </a:extLst>
          </p:cNvPr>
          <p:cNvSpPr txBox="1"/>
          <p:nvPr/>
        </p:nvSpPr>
        <p:spPr>
          <a:xfrm>
            <a:off x="474618" y="4953784"/>
            <a:ext cx="7979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Launched in 2020 to support survivors of financial abuse.</a:t>
            </a:r>
          </a:p>
          <a:p>
            <a:r>
              <a:t>• Financial Independence Hub offers free one-on-one coaching, referrals to services, and access to interest-free loans.</a:t>
            </a:r>
          </a:p>
          <a:p>
            <a:r>
              <a:t>• Developed new banking technologies to detect and prevent financial abuse.</a:t>
            </a:r>
          </a:p>
          <a:p>
            <a:r>
              <a:t>• Partnering with experts to raise awareness across communities and industries.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5CFFF-C702-4FD0-A9CC-42E4AC4AC3F5}"/>
              </a:ext>
            </a:extLst>
          </p:cNvPr>
          <p:cNvSpPr txBox="1"/>
          <p:nvPr/>
        </p:nvSpPr>
        <p:spPr>
          <a:xfrm>
            <a:off x="504645" y="2511770"/>
            <a:ext cx="37826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Launched in 2020 to support survivors of financial abuse.</a:t>
            </a:r>
          </a:p>
          <a:p>
            <a:r>
              <a:t>• Financial Independence Hub offers free one-on-one coaching, referrals to services, and access to interest-free loans.</a:t>
            </a:r>
          </a:p>
          <a:p>
            <a:r>
              <a:t>• Developed new banking technologies to detect and prevent financial abuse.</a:t>
            </a:r>
          </a:p>
          <a:p>
            <a:r>
              <a:t>• Partnering with experts to raise awareness across communities and industries.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03F7EB-72D7-46CC-8835-9DC32F4EED0E}"/>
              </a:ext>
            </a:extLst>
          </p:cNvPr>
          <p:cNvSpPr txBox="1"/>
          <p:nvPr/>
        </p:nvSpPr>
        <p:spPr>
          <a:xfrm>
            <a:off x="4671369" y="2498030"/>
            <a:ext cx="37826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Launched in 2020 to support survivors of financial abuse.</a:t>
            </a:r>
          </a:p>
          <a:p>
            <a:r>
              <a:t>• Financial Independence Hub offers free one-on-one coaching, referrals to services, and access to interest-free loans.</a:t>
            </a:r>
          </a:p>
          <a:p>
            <a:r>
              <a:t>• Developed new banking technologies to detect and prevent financial abuse.</a:t>
            </a:r>
          </a:p>
          <a:p>
            <a:r>
              <a:t>• Partnering with experts to raise awareness across communities and industries.</a:t>
            </a:r>
          </a:p>
        </p:txBody>
      </p:sp>
    </p:spTree>
    <p:extLst>
      <p:ext uri="{BB962C8B-B14F-4D97-AF65-F5344CB8AC3E}">
        <p14:creationId xmlns:p14="http://schemas.microsoft.com/office/powerpoint/2010/main" val="3102315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675B2B-C78D-4269-8B6F-69E02FFE5BBD}"/>
              </a:ext>
            </a:extLst>
          </p:cNvPr>
          <p:cNvSpPr txBox="1"/>
          <p:nvPr/>
        </p:nvSpPr>
        <p:spPr>
          <a:xfrm>
            <a:off x="383177" y="424496"/>
            <a:ext cx="5660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B43"/>
                </a:solidFill>
                <a:effectLst/>
                <a:uLnTx/>
                <a:uFillTx/>
                <a:latin typeface="Arial" panose="020B0604020202020204" pitchFamily="34" charset="0"/>
                <a:cs typeface="+mj-cs"/>
              </a:rPr>
              <a:t>The Next Chapter Program</a:t>
            </a:r>
            <a:endParaRPr lang="en-US" sz="2000" b="1" dirty="0">
              <a:solidFill>
                <a:srgbClr val="FFDB4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3C2EF-87EB-4B4C-94F6-F6D3E5AB4978}"/>
              </a:ext>
            </a:extLst>
          </p:cNvPr>
          <p:cNvSpPr txBox="1"/>
          <p:nvPr/>
        </p:nvSpPr>
        <p:spPr>
          <a:xfrm>
            <a:off x="383177" y="986199"/>
            <a:ext cx="2403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What is it?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867661-C30D-4E1B-AE5E-1272F4519012}"/>
              </a:ext>
            </a:extLst>
          </p:cNvPr>
          <p:cNvSpPr/>
          <p:nvPr/>
        </p:nvSpPr>
        <p:spPr>
          <a:xfrm>
            <a:off x="487679" y="1245780"/>
            <a:ext cx="8181704" cy="964874"/>
          </a:xfrm>
          <a:prstGeom prst="rect">
            <a:avLst/>
          </a:prstGeom>
          <a:noFill/>
          <a:ln>
            <a:solidFill>
              <a:srgbClr val="FFDB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8257B9-1ECA-44E4-B6F8-5D2F6F0B472C}"/>
              </a:ext>
            </a:extLst>
          </p:cNvPr>
          <p:cNvSpPr txBox="1"/>
          <p:nvPr/>
        </p:nvSpPr>
        <p:spPr>
          <a:xfrm>
            <a:off x="383177" y="2258665"/>
            <a:ext cx="3735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 Accomplishments So Far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D97C63-1ED3-450B-8967-36E63EB04C96}"/>
              </a:ext>
            </a:extLst>
          </p:cNvPr>
          <p:cNvSpPr/>
          <p:nvPr/>
        </p:nvSpPr>
        <p:spPr>
          <a:xfrm>
            <a:off x="487678" y="2521113"/>
            <a:ext cx="3875317" cy="2143486"/>
          </a:xfrm>
          <a:prstGeom prst="rect">
            <a:avLst/>
          </a:prstGeom>
          <a:noFill/>
          <a:ln>
            <a:solidFill>
              <a:srgbClr val="FFDB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AFD62F-C899-4103-BACF-30379C773EF1}"/>
              </a:ext>
            </a:extLst>
          </p:cNvPr>
          <p:cNvSpPr txBox="1"/>
          <p:nvPr/>
        </p:nvSpPr>
        <p:spPr>
          <a:xfrm>
            <a:off x="4589418" y="2244114"/>
            <a:ext cx="3735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New Initiatives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673232-9BE8-44DB-9EA3-E35CD1223736}"/>
              </a:ext>
            </a:extLst>
          </p:cNvPr>
          <p:cNvSpPr/>
          <p:nvPr/>
        </p:nvSpPr>
        <p:spPr>
          <a:xfrm>
            <a:off x="4641669" y="2521113"/>
            <a:ext cx="4014652" cy="2143486"/>
          </a:xfrm>
          <a:prstGeom prst="rect">
            <a:avLst/>
          </a:prstGeom>
          <a:noFill/>
          <a:ln>
            <a:solidFill>
              <a:srgbClr val="FFDB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6478C-1DF5-4875-8948-E7580F638CE4}"/>
              </a:ext>
            </a:extLst>
          </p:cNvPr>
          <p:cNvSpPr txBox="1"/>
          <p:nvPr/>
        </p:nvSpPr>
        <p:spPr>
          <a:xfrm>
            <a:off x="383176" y="4724981"/>
            <a:ext cx="4111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How You Can Get Involved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500E6F-C2C5-4DBB-AF2C-87938728763A}"/>
              </a:ext>
            </a:extLst>
          </p:cNvPr>
          <p:cNvSpPr/>
          <p:nvPr/>
        </p:nvSpPr>
        <p:spPr>
          <a:xfrm>
            <a:off x="487678" y="4984562"/>
            <a:ext cx="8181704" cy="964874"/>
          </a:xfrm>
          <a:prstGeom prst="rect">
            <a:avLst/>
          </a:prstGeom>
          <a:noFill/>
          <a:ln>
            <a:solidFill>
              <a:srgbClr val="FFDB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13160-BD80-4EBE-B118-BF11DB668187}"/>
              </a:ext>
            </a:extLst>
          </p:cNvPr>
          <p:cNvSpPr txBox="1"/>
          <p:nvPr/>
        </p:nvSpPr>
        <p:spPr>
          <a:xfrm>
            <a:off x="504645" y="1286107"/>
            <a:ext cx="7979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xxxxx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4E4B4-41F5-4395-8556-0D02C7942EEE}"/>
              </a:ext>
            </a:extLst>
          </p:cNvPr>
          <p:cNvSpPr txBox="1"/>
          <p:nvPr/>
        </p:nvSpPr>
        <p:spPr>
          <a:xfrm>
            <a:off x="474618" y="4953784"/>
            <a:ext cx="7979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xxxxx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5CFFF-C702-4FD0-A9CC-42E4AC4AC3F5}"/>
              </a:ext>
            </a:extLst>
          </p:cNvPr>
          <p:cNvSpPr txBox="1"/>
          <p:nvPr/>
        </p:nvSpPr>
        <p:spPr>
          <a:xfrm>
            <a:off x="504645" y="2511770"/>
            <a:ext cx="37826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100" dirty="0" err="1"/>
              <a:t>Xxxx</a:t>
            </a:r>
            <a:endParaRPr lang="en-US" sz="1100" dirty="0"/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100" dirty="0" err="1"/>
              <a:t>Xxxx</a:t>
            </a:r>
            <a:endParaRPr lang="en-US" sz="1100" dirty="0"/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100" dirty="0" err="1"/>
              <a:t>xxxx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03F7EB-72D7-46CC-8835-9DC32F4EED0E}"/>
              </a:ext>
            </a:extLst>
          </p:cNvPr>
          <p:cNvSpPr txBox="1"/>
          <p:nvPr/>
        </p:nvSpPr>
        <p:spPr>
          <a:xfrm>
            <a:off x="4671369" y="2498030"/>
            <a:ext cx="37826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100" dirty="0" err="1"/>
              <a:t>Xxxx</a:t>
            </a:r>
            <a:endParaRPr lang="en-US" sz="1100" dirty="0"/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100" dirty="0" err="1"/>
              <a:t>Xxxx</a:t>
            </a:r>
            <a:endParaRPr lang="en-US" sz="1100" dirty="0"/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100" dirty="0" err="1"/>
              <a:t>xxxx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7129559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Role as CommBank Employees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You are often the first point of contact for customers affected by abuse.</a:t>
            </a:r>
          </a:p>
          <a:p>
            <a:r>
              <a:t>• Be aware: listen with empathy and without judgment.</a:t>
            </a:r>
          </a:p>
          <a:p>
            <a:r>
              <a:t>• Direct survivors to the Next Chapter resources.</a:t>
            </a:r>
          </a:p>
          <a:p>
            <a:r>
              <a:t>• Your knowledge and compassion can help break the cycle of abuse.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PMorgan Chase &amp; Co">
      <a:dk1>
        <a:sysClr val="windowText" lastClr="000000"/>
      </a:dk1>
      <a:lt1>
        <a:sysClr val="window" lastClr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B99D30"/>
      </a:hlink>
      <a:folHlink>
        <a:srgbClr val="007C88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4191</TotalTime>
  <Words>103</Words>
  <Application>Microsoft Macintosh PowerPoint</Application>
  <PresentationFormat>On-screen Show (4:3)</PresentationFormat>
  <Paragraphs>30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Li, Andrew X</dc:creator>
  <cp:lastModifiedBy>Tammy Tran</cp:lastModifiedBy>
  <cp:revision>128</cp:revision>
  <dcterms:created xsi:type="dcterms:W3CDTF">2020-03-26T22:50:15Z</dcterms:created>
  <dcterms:modified xsi:type="dcterms:W3CDTF">2022-04-01T09:53:54Z</dcterms:modified>
</cp:coreProperties>
</file>